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4"/>
  </p:notesMasterIdLst>
  <p:sldIdLst>
    <p:sldId id="256" r:id="rId2"/>
    <p:sldId id="262" r:id="rId3"/>
    <p:sldId id="306" r:id="rId4"/>
    <p:sldId id="258" r:id="rId5"/>
    <p:sldId id="259" r:id="rId6"/>
    <p:sldId id="313" r:id="rId7"/>
    <p:sldId id="307" r:id="rId8"/>
    <p:sldId id="308" r:id="rId9"/>
    <p:sldId id="312" r:id="rId10"/>
    <p:sldId id="309" r:id="rId11"/>
    <p:sldId id="310" r:id="rId12"/>
    <p:sldId id="311" r:id="rId13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Montserrat ExtraBold" panose="00000900000000000000" pitchFamily="2" charset="0"/>
      <p:bold r:id="rId19"/>
      <p:boldItalic r:id="rId20"/>
    </p:embeddedFont>
    <p:embeddedFont>
      <p:font typeface="Montserrat Medium" panose="000006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25729A-FA98-45F2-951C-C80FAACDA721}">
  <a:tblStyle styleId="{6925729A-FA98-45F2-951C-C80FAACDA72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11" autoAdjust="0"/>
    <p:restoredTop sz="94660"/>
  </p:normalViewPr>
  <p:slideViewPr>
    <p:cSldViewPr snapToGrid="0">
      <p:cViewPr>
        <p:scale>
          <a:sx n="111" d="100"/>
          <a:sy n="111" d="100"/>
        </p:scale>
        <p:origin x="135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236A4D4D-D4EC-04D3-029C-3E8A225F5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>
            <a:extLst>
              <a:ext uri="{FF2B5EF4-FFF2-40B4-BE49-F238E27FC236}">
                <a16:creationId xmlns:a16="http://schemas.microsoft.com/office/drawing/2014/main" id="{D0543E1D-85D1-F8E8-79DF-D9E5AA5761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>
            <a:extLst>
              <a:ext uri="{FF2B5EF4-FFF2-40B4-BE49-F238E27FC236}">
                <a16:creationId xmlns:a16="http://schemas.microsoft.com/office/drawing/2014/main" id="{C2D1D596-D140-4B0F-7007-3CF38D52BF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1451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7f9262ee2f_0_26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7f9262ee2f_0_26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729023341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7290233416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3F2FEC2D-1D87-378E-E4ED-DBC97E82B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>
            <a:extLst>
              <a:ext uri="{FF2B5EF4-FFF2-40B4-BE49-F238E27FC236}">
                <a16:creationId xmlns:a16="http://schemas.microsoft.com/office/drawing/2014/main" id="{01FC5C7B-9D9F-4CCC-9CDE-9A4B34EB45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>
            <a:extLst>
              <a:ext uri="{FF2B5EF4-FFF2-40B4-BE49-F238E27FC236}">
                <a16:creationId xmlns:a16="http://schemas.microsoft.com/office/drawing/2014/main" id="{696D7749-E7EB-49D1-6F41-ED3097E06F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0231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009189D3-FF3D-7041-E470-EC8C0DB68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>
            <a:extLst>
              <a:ext uri="{FF2B5EF4-FFF2-40B4-BE49-F238E27FC236}">
                <a16:creationId xmlns:a16="http://schemas.microsoft.com/office/drawing/2014/main" id="{401662AC-E364-B526-6794-A92D42C8C2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>
            <a:extLst>
              <a:ext uri="{FF2B5EF4-FFF2-40B4-BE49-F238E27FC236}">
                <a16:creationId xmlns:a16="http://schemas.microsoft.com/office/drawing/2014/main" id="{3B14787A-9BA3-A13B-B8A2-60B40C5599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9288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B0204780-CDA7-CD9E-A6C6-6B3C7D752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>
            <a:extLst>
              <a:ext uri="{FF2B5EF4-FFF2-40B4-BE49-F238E27FC236}">
                <a16:creationId xmlns:a16="http://schemas.microsoft.com/office/drawing/2014/main" id="{D75EC7EE-7555-2312-7FC8-6A92177CFD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>
            <a:extLst>
              <a:ext uri="{FF2B5EF4-FFF2-40B4-BE49-F238E27FC236}">
                <a16:creationId xmlns:a16="http://schemas.microsoft.com/office/drawing/2014/main" id="{63E24F98-4655-C0E1-44D4-3659610A49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4844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0216D6E9-401E-58F9-2151-39EAA1962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7f9262ee2f_0_26276:notes">
            <a:extLst>
              <a:ext uri="{FF2B5EF4-FFF2-40B4-BE49-F238E27FC236}">
                <a16:creationId xmlns:a16="http://schemas.microsoft.com/office/drawing/2014/main" id="{2144451B-31B0-DF99-E131-DAD0C412E8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7f9262ee2f_0_26276:notes">
            <a:extLst>
              <a:ext uri="{FF2B5EF4-FFF2-40B4-BE49-F238E27FC236}">
                <a16:creationId xmlns:a16="http://schemas.microsoft.com/office/drawing/2014/main" id="{64539F2B-DAB2-D21C-BA71-AE6ED33D18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87704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CBB3DACA-9545-6D24-EC04-416C37F5A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>
            <a:extLst>
              <a:ext uri="{FF2B5EF4-FFF2-40B4-BE49-F238E27FC236}">
                <a16:creationId xmlns:a16="http://schemas.microsoft.com/office/drawing/2014/main" id="{94224EC9-ACD3-6A11-8908-D7520953E5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>
            <a:extLst>
              <a:ext uri="{FF2B5EF4-FFF2-40B4-BE49-F238E27FC236}">
                <a16:creationId xmlns:a16="http://schemas.microsoft.com/office/drawing/2014/main" id="{F23EA394-F64D-DBAC-0D70-D778D3C9D5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26393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F4572628-437C-D50E-F4DF-C38BCB122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>
            <a:extLst>
              <a:ext uri="{FF2B5EF4-FFF2-40B4-BE49-F238E27FC236}">
                <a16:creationId xmlns:a16="http://schemas.microsoft.com/office/drawing/2014/main" id="{AA3C0C3D-A9AC-DD49-B6F4-0CD3FA73B7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>
            <a:extLst>
              <a:ext uri="{FF2B5EF4-FFF2-40B4-BE49-F238E27FC236}">
                <a16:creationId xmlns:a16="http://schemas.microsoft.com/office/drawing/2014/main" id="{DDCF5738-5DD3-F514-BAC4-BC810B2636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85879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4838A414-B94D-9184-39AB-AF093FF09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>
            <a:extLst>
              <a:ext uri="{FF2B5EF4-FFF2-40B4-BE49-F238E27FC236}">
                <a16:creationId xmlns:a16="http://schemas.microsoft.com/office/drawing/2014/main" id="{1ADF7C40-E040-ADAD-76EF-78D0E55253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>
            <a:extLst>
              <a:ext uri="{FF2B5EF4-FFF2-40B4-BE49-F238E27FC236}">
                <a16:creationId xmlns:a16="http://schemas.microsoft.com/office/drawing/2014/main" id="{BC4E9D57-598F-8FE8-76B6-03BD09B1E2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6045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subTitle" idx="1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title" idx="2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ubTitle" idx="3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title" idx="4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subTitle" idx="5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title" idx="6" hasCustomPrompt="1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4"/>
          <p:cNvSpPr txBox="1">
            <a:spLocks noGrp="1"/>
          </p:cNvSpPr>
          <p:nvPr>
            <p:ph type="title" idx="7" hasCustomPrompt="1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4"/>
          <p:cNvSpPr txBox="1">
            <a:spLocks noGrp="1"/>
          </p:cNvSpPr>
          <p:nvPr>
            <p:ph type="title" idx="8" hasCustomPrompt="1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  <a:effectLst>
            <a:outerShdw blurRad="57150" dist="19050" dir="5400000" algn="bl" rotWithShape="0">
              <a:srgbClr val="76A5AF">
                <a:alpha val="88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subTitle" idx="1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6" r:id="rId4"/>
    <p:sldLayoutId id="2147483660" r:id="rId5"/>
    <p:sldLayoutId id="2147483661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>
            <a:spLocks noGrp="1"/>
          </p:cNvSpPr>
          <p:nvPr>
            <p:ph type="ctrTitle"/>
          </p:nvPr>
        </p:nvSpPr>
        <p:spPr>
          <a:xfrm>
            <a:off x="591671" y="1950100"/>
            <a:ext cx="8006763" cy="644700"/>
          </a:xfrm>
          <a:prstGeom prst="rect">
            <a:avLst/>
          </a:prstGeom>
          <a:effectLst>
            <a:outerShdw blurRad="142875" dist="19050" dir="87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KorhazApp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Okos kórházi időpontfoglaló rendszer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3" name="Google Shape;163;p38"/>
          <p:cNvSpPr txBox="1">
            <a:spLocks noGrp="1"/>
          </p:cNvSpPr>
          <p:nvPr>
            <p:ph type="subTitle" idx="1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/>
              <a:t>Balog Edit </a:t>
            </a:r>
            <a:endParaRPr lang="en-US" sz="18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/>
              <a:t>2</a:t>
            </a:r>
            <a:r>
              <a:rPr lang="en-US" sz="1800" dirty="0"/>
              <a:t>026. </a:t>
            </a:r>
            <a:r>
              <a:rPr lang="hu-HU" sz="1800" dirty="0"/>
              <a:t>III</a:t>
            </a:r>
            <a:r>
              <a:rPr lang="en-US" sz="1800" dirty="0"/>
              <a:t>. </a:t>
            </a:r>
            <a:r>
              <a:rPr lang="hu-HU" sz="1800" dirty="0"/>
              <a:t>3</a:t>
            </a:r>
            <a:r>
              <a:rPr lang="en-US" sz="1800" dirty="0"/>
              <a:t>1</a:t>
            </a:r>
            <a:r>
              <a:rPr lang="hu-HU" sz="1800" dirty="0"/>
              <a:t>.</a:t>
            </a:r>
            <a:endParaRPr sz="1800" dirty="0"/>
          </a:p>
        </p:txBody>
      </p:sp>
      <p:sp>
        <p:nvSpPr>
          <p:cNvPr id="164" name="Google Shape;164;p38"/>
          <p:cNvSpPr txBox="1">
            <a:spLocks noGrp="1"/>
          </p:cNvSpPr>
          <p:nvPr>
            <p:ph type="ctrTitle"/>
          </p:nvPr>
        </p:nvSpPr>
        <p:spPr>
          <a:xfrm>
            <a:off x="1690487" y="2624375"/>
            <a:ext cx="6431537" cy="833440"/>
          </a:xfrm>
          <a:prstGeom prst="rect">
            <a:avLst/>
          </a:prstGeom>
          <a:effectLst>
            <a:outerShdw blurRad="100013" dist="19050" dir="84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u-HU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anose="00000600000000000000" pitchFamily="2" charset="0"/>
              </a:rPr>
              <a:t>3-rétegű architektúra és helyalapú </a:t>
            </a:r>
            <a:r>
              <a:rPr lang="hu-HU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anose="00000600000000000000" pitchFamily="2" charset="0"/>
              </a:rPr>
              <a:t>automatizáció</a:t>
            </a:r>
            <a:r>
              <a:rPr lang="hu-HU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anose="00000600000000000000" pitchFamily="2" charset="0"/>
              </a:rPr>
              <a:t> az egészségügyben</a:t>
            </a:r>
            <a:endParaRPr sz="2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 Medium" panose="00000600000000000000" pitchFamily="2" charset="0"/>
              <a:ea typeface="Montserrat ExtraLight"/>
              <a:cs typeface="Montserrat ExtraLight"/>
              <a:sym typeface="Montserrat ExtraLight"/>
            </a:endParaRPr>
          </a:p>
        </p:txBody>
      </p:sp>
      <p:cxnSp>
        <p:nvCxnSpPr>
          <p:cNvPr id="165" name="Google Shape;165;p38"/>
          <p:cNvCxnSpPr/>
          <p:nvPr/>
        </p:nvCxnSpPr>
        <p:spPr>
          <a:xfrm>
            <a:off x="3190500" y="256517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A probléma és a motiváció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15" name="Google Shape;215;p44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5493036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200000"/>
              </a:lnSpc>
            </a:pPr>
            <a:r>
              <a:rPr lang="hu-HU" dirty="0"/>
              <a:t>Zsúfolt várótermek, hosszú várakozási idők</a:t>
            </a:r>
          </a:p>
          <a:p>
            <a:pPr marL="285750" indent="-285750">
              <a:lnSpc>
                <a:spcPct val="200000"/>
              </a:lnSpc>
            </a:pPr>
            <a:r>
              <a:rPr lang="hu-HU" dirty="0"/>
              <a:t>Papíralapú, túlterhelt recepciós adminisztráció</a:t>
            </a:r>
          </a:p>
          <a:p>
            <a:pPr marL="285750" indent="-285750">
              <a:lnSpc>
                <a:spcPct val="200000"/>
              </a:lnSpc>
            </a:pPr>
            <a:r>
              <a:rPr lang="hu-HU" dirty="0"/>
              <a:t>Orvosok számára átláthatatlan betegérkezések</a:t>
            </a:r>
          </a:p>
          <a:p>
            <a:pPr marL="285750" indent="-285750">
              <a:lnSpc>
                <a:spcPct val="200000"/>
              </a:lnSpc>
            </a:pPr>
            <a:r>
              <a:rPr lang="hu-HU" dirty="0"/>
              <a:t>Létező appok hiányossága: merev naptárak, helyalapú validáció nélkül</a:t>
            </a:r>
            <a:endParaRPr dirty="0"/>
          </a:p>
        </p:txBody>
      </p:sp>
      <p:cxnSp>
        <p:nvCxnSpPr>
          <p:cNvPr id="216" name="Google Shape;216;p4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6A1080F6-58AF-92CA-AE4C-1471F2543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>
            <a:extLst>
              <a:ext uri="{FF2B5EF4-FFF2-40B4-BE49-F238E27FC236}">
                <a16:creationId xmlns:a16="http://schemas.microsoft.com/office/drawing/2014/main" id="{C300CE55-B228-1454-BE52-367C7EC37D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016626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A megoldás</a:t>
            </a:r>
            <a:r>
              <a:rPr lang="en-US" dirty="0"/>
              <a:t>:</a:t>
            </a:r>
            <a:br>
              <a:rPr lang="hu-HU" dirty="0"/>
            </a:br>
            <a:r>
              <a:rPr lang="hu-HU" dirty="0"/>
              <a:t>Projekt célkitűzések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15" name="Google Shape;215;p44">
            <a:extLst>
              <a:ext uri="{FF2B5EF4-FFF2-40B4-BE49-F238E27FC236}">
                <a16:creationId xmlns:a16="http://schemas.microsoft.com/office/drawing/2014/main" id="{B7A39778-4DA3-3D58-E666-0AB583A8F2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5393144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200000"/>
              </a:lnSpc>
            </a:pPr>
            <a:r>
              <a:rPr lang="hu-HU" dirty="0"/>
              <a:t>Dinamikus, 10 perces </a:t>
            </a:r>
            <a:r>
              <a:rPr lang="hu-HU" dirty="0" err="1"/>
              <a:t>csúszóablakos</a:t>
            </a:r>
            <a:r>
              <a:rPr lang="hu-HU" dirty="0"/>
              <a:t> időpontfoglalás</a:t>
            </a:r>
          </a:p>
          <a:p>
            <a:pPr marL="285750" indent="-285750">
              <a:lnSpc>
                <a:spcPct val="200000"/>
              </a:lnSpc>
            </a:pPr>
            <a:r>
              <a:rPr lang="hu-HU" dirty="0"/>
              <a:t>„</a:t>
            </a:r>
            <a:r>
              <a:rPr lang="hu-HU" dirty="0" err="1"/>
              <a:t>Smart</a:t>
            </a:r>
            <a:r>
              <a:rPr lang="hu-HU" dirty="0"/>
              <a:t> </a:t>
            </a:r>
            <a:r>
              <a:rPr lang="hu-HU" dirty="0" err="1"/>
              <a:t>Check</a:t>
            </a:r>
            <a:r>
              <a:rPr lang="hu-HU" dirty="0"/>
              <a:t>-in” (Okos Bejelentkezés) technológia</a:t>
            </a:r>
          </a:p>
          <a:p>
            <a:pPr marL="285750" indent="-285750">
              <a:lnSpc>
                <a:spcPct val="200000"/>
              </a:lnSpc>
            </a:pPr>
            <a:r>
              <a:rPr lang="hu-HU" dirty="0"/>
              <a:t>Valós idejű, reaktív orvosi műszerfal</a:t>
            </a:r>
          </a:p>
          <a:p>
            <a:pPr marL="285750" indent="-285750">
              <a:lnSpc>
                <a:spcPct val="200000"/>
              </a:lnSpc>
            </a:pPr>
            <a:r>
              <a:rPr lang="hu-HU" dirty="0"/>
              <a:t>Felhőalapú digitális kórlapkezelés</a:t>
            </a:r>
            <a:endParaRPr dirty="0"/>
          </a:p>
        </p:txBody>
      </p:sp>
      <p:cxnSp>
        <p:nvCxnSpPr>
          <p:cNvPr id="216" name="Google Shape;216;p44">
            <a:extLst>
              <a:ext uri="{FF2B5EF4-FFF2-40B4-BE49-F238E27FC236}">
                <a16:creationId xmlns:a16="http://schemas.microsoft.com/office/drawing/2014/main" id="{D224C918-569E-02E1-76DC-DB93FC95265A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0DF6FF6-B78F-D380-A4DD-133783F3E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439" y="-237935"/>
            <a:ext cx="3108843" cy="576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237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/>
          <p:cNvSpPr txBox="1">
            <a:spLocks noGrp="1"/>
          </p:cNvSpPr>
          <p:nvPr>
            <p:ph type="title" idx="6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79" name="Google Shape;179;p40"/>
          <p:cNvSpPr txBox="1">
            <a:spLocks noGrp="1"/>
          </p:cNvSpPr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Szerver</a:t>
            </a:r>
            <a:endParaRPr dirty="0"/>
          </a:p>
        </p:txBody>
      </p:sp>
      <p:sp>
        <p:nvSpPr>
          <p:cNvPr id="180" name="Google Shape;180;p40"/>
          <p:cNvSpPr txBox="1">
            <a:spLocks noGrp="1"/>
          </p:cNvSpPr>
          <p:nvPr>
            <p:ph type="subTitle" idx="1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hu-HU" dirty="0"/>
              <a:t>Node.js &amp; Express.js (Kritikus üzleti logika, API végpontok)</a:t>
            </a:r>
            <a:endParaRPr dirty="0"/>
          </a:p>
        </p:txBody>
      </p:sp>
      <p:sp>
        <p:nvSpPr>
          <p:cNvPr id="181" name="Google Shape;181;p40"/>
          <p:cNvSpPr txBox="1">
            <a:spLocks noGrp="1"/>
          </p:cNvSpPr>
          <p:nvPr>
            <p:ph type="title" idx="2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Adatbázis</a:t>
            </a:r>
            <a:endParaRPr dirty="0"/>
          </a:p>
        </p:txBody>
      </p:sp>
      <p:sp>
        <p:nvSpPr>
          <p:cNvPr id="182" name="Google Shape;182;p40"/>
          <p:cNvSpPr txBox="1">
            <a:spLocks noGrp="1"/>
          </p:cNvSpPr>
          <p:nvPr>
            <p:ph type="subTitle" idx="3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hu-HU" dirty="0" err="1"/>
              <a:t>Firebase</a:t>
            </a:r>
            <a:r>
              <a:rPr lang="hu-HU" dirty="0"/>
              <a:t> Auth &amp; </a:t>
            </a:r>
            <a:r>
              <a:rPr lang="hu-HU" dirty="0" err="1"/>
              <a:t>Cloud</a:t>
            </a:r>
            <a:r>
              <a:rPr lang="hu-HU" dirty="0"/>
              <a:t> </a:t>
            </a:r>
            <a:r>
              <a:rPr lang="hu-HU" dirty="0" err="1"/>
              <a:t>Firestore</a:t>
            </a:r>
            <a:r>
              <a:rPr lang="hu-HU" dirty="0"/>
              <a:t> (Valós idejű </a:t>
            </a:r>
            <a:r>
              <a:rPr lang="hu-HU" dirty="0" err="1"/>
              <a:t>NoSQL</a:t>
            </a:r>
            <a:r>
              <a:rPr lang="hu-HU" dirty="0"/>
              <a:t>)</a:t>
            </a:r>
            <a:endParaRPr dirty="0"/>
          </a:p>
        </p:txBody>
      </p:sp>
      <p:sp>
        <p:nvSpPr>
          <p:cNvPr id="183" name="Google Shape;183;p40"/>
          <p:cNvSpPr txBox="1">
            <a:spLocks noGrp="1"/>
          </p:cNvSpPr>
          <p:nvPr>
            <p:ph type="title" idx="4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Kliens</a:t>
            </a:r>
            <a:endParaRPr dirty="0"/>
          </a:p>
        </p:txBody>
      </p:sp>
      <p:sp>
        <p:nvSpPr>
          <p:cNvPr id="184" name="Google Shape;184;p40"/>
          <p:cNvSpPr txBox="1">
            <a:spLocks noGrp="1"/>
          </p:cNvSpPr>
          <p:nvPr>
            <p:ph type="subTitle" idx="5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hu-HU" dirty="0" err="1"/>
              <a:t>Flutter</a:t>
            </a:r>
            <a:r>
              <a:rPr lang="hu-HU" dirty="0"/>
              <a:t> &amp; Dart (Keresztplatformos UI, </a:t>
            </a:r>
            <a:r>
              <a:rPr lang="hu-HU" dirty="0" err="1"/>
              <a:t>Provider</a:t>
            </a:r>
            <a:r>
              <a:rPr lang="hu-HU" dirty="0"/>
              <a:t> állapotkezelés)</a:t>
            </a:r>
            <a:endParaRPr dirty="0"/>
          </a:p>
        </p:txBody>
      </p:sp>
      <p:sp>
        <p:nvSpPr>
          <p:cNvPr id="185" name="Google Shape;185;p40"/>
          <p:cNvSpPr txBox="1">
            <a:spLocks noGrp="1"/>
          </p:cNvSpPr>
          <p:nvPr>
            <p:ph type="title" idx="7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86" name="Google Shape;186;p40"/>
          <p:cNvSpPr txBox="1">
            <a:spLocks noGrp="1"/>
          </p:cNvSpPr>
          <p:nvPr>
            <p:ph type="title" idx="8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187" name="Google Shape;187;p40"/>
          <p:cNvCxnSpPr/>
          <p:nvPr/>
        </p:nvCxnSpPr>
        <p:spPr>
          <a:xfrm>
            <a:off x="1883350" y="2546160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88" name="Google Shape;188;p40"/>
          <p:cNvCxnSpPr/>
          <p:nvPr/>
        </p:nvCxnSpPr>
        <p:spPr>
          <a:xfrm>
            <a:off x="4373400" y="2546160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89" name="Google Shape;189;p40"/>
          <p:cNvCxnSpPr/>
          <p:nvPr/>
        </p:nvCxnSpPr>
        <p:spPr>
          <a:xfrm>
            <a:off x="6863450" y="2546160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Google Shape;214;p44">
            <a:extLst>
              <a:ext uri="{FF2B5EF4-FFF2-40B4-BE49-F238E27FC236}">
                <a16:creationId xmlns:a16="http://schemas.microsoft.com/office/drawing/2014/main" id="{775D02D2-7871-C804-8B9D-BFEBED5192FE}"/>
              </a:ext>
            </a:extLst>
          </p:cNvPr>
          <p:cNvSpPr txBox="1">
            <a:spLocks/>
          </p:cNvSpPr>
          <p:nvPr/>
        </p:nvSpPr>
        <p:spPr>
          <a:xfrm>
            <a:off x="1910239" y="1469725"/>
            <a:ext cx="5016626" cy="9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hu-HU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Rendszerarchitektúra (3 – </a:t>
            </a:r>
            <a:r>
              <a:rPr lang="hu-HU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tier</a:t>
            </a:r>
            <a:r>
              <a:rPr lang="hu-HU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cxnSp>
        <p:nvCxnSpPr>
          <p:cNvPr id="3" name="Google Shape;216;p44">
            <a:extLst>
              <a:ext uri="{FF2B5EF4-FFF2-40B4-BE49-F238E27FC236}">
                <a16:creationId xmlns:a16="http://schemas.microsoft.com/office/drawing/2014/main" id="{31708DD2-E430-9679-1F11-D1650ED64036}"/>
              </a:ext>
            </a:extLst>
          </p:cNvPr>
          <p:cNvCxnSpPr>
            <a:cxnSpLocks/>
          </p:cNvCxnSpPr>
          <p:nvPr/>
        </p:nvCxnSpPr>
        <p:spPr>
          <a:xfrm>
            <a:off x="2470366" y="1470261"/>
            <a:ext cx="390403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D138E5C-3791-BA74-F07D-15AE0766E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719" y="0"/>
            <a:ext cx="3811281" cy="5143500"/>
          </a:xfrm>
          <a:prstGeom prst="rect">
            <a:avLst/>
          </a:prstGeom>
        </p:spPr>
      </p:pic>
      <p:sp>
        <p:nvSpPr>
          <p:cNvPr id="9" name="Google Shape;215;p44">
            <a:extLst>
              <a:ext uri="{FF2B5EF4-FFF2-40B4-BE49-F238E27FC236}">
                <a16:creationId xmlns:a16="http://schemas.microsoft.com/office/drawing/2014/main" id="{693E736E-388F-E5BC-247B-45B36299397D}"/>
              </a:ext>
            </a:extLst>
          </p:cNvPr>
          <p:cNvSpPr txBox="1">
            <a:spLocks/>
          </p:cNvSpPr>
          <p:nvPr/>
        </p:nvSpPr>
        <p:spPr>
          <a:xfrm>
            <a:off x="193147" y="399094"/>
            <a:ext cx="5039679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200000"/>
              </a:lnSpc>
            </a:pPr>
            <a:r>
              <a:rPr lang="hu-HU" sz="1600" dirty="0">
                <a:solidFill>
                  <a:schemeClr val="tx2"/>
                </a:solidFill>
                <a:latin typeface="Montserrat Medium" panose="00000600000000000000" pitchFamily="2" charset="0"/>
              </a:rPr>
              <a:t>A korábban említett 3 rétegű architektúra vizuálisan implementálva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D9847B5B-377C-1087-40A6-D529F13BA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>
            <a:extLst>
              <a:ext uri="{FF2B5EF4-FFF2-40B4-BE49-F238E27FC236}">
                <a16:creationId xmlns:a16="http://schemas.microsoft.com/office/drawing/2014/main" id="{1BD5C3CC-AACA-6C7C-B63C-25B642CB91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439" y="163983"/>
            <a:ext cx="4993574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>
                <a:solidFill>
                  <a:schemeClr val="accent1"/>
                </a:solidFill>
              </a:rPr>
              <a:t>Az architektúrák összehangolása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16" name="Google Shape;216;p44">
            <a:extLst>
              <a:ext uri="{FF2B5EF4-FFF2-40B4-BE49-F238E27FC236}">
                <a16:creationId xmlns:a16="http://schemas.microsoft.com/office/drawing/2014/main" id="{A84C9E79-BA52-A254-8065-A9B7F2AD950C}"/>
              </a:ext>
            </a:extLst>
          </p:cNvPr>
          <p:cNvCxnSpPr/>
          <p:nvPr/>
        </p:nvCxnSpPr>
        <p:spPr>
          <a:xfrm>
            <a:off x="194139" y="132980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EFC7CC3-83ED-A1CC-9945-62AE289AD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972" y="983739"/>
            <a:ext cx="5850505" cy="394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854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8271DB99-099D-9C79-7265-3ADECFBE6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>
            <a:extLst>
              <a:ext uri="{FF2B5EF4-FFF2-40B4-BE49-F238E27FC236}">
                <a16:creationId xmlns:a16="http://schemas.microsoft.com/office/drawing/2014/main" id="{2D7260AE-E755-FAC6-2022-61CB7F572D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993574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>
                <a:solidFill>
                  <a:schemeClr val="accent1"/>
                </a:solidFill>
              </a:rPr>
              <a:t>A dinamikus időpontfoglaló algoritmus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15" name="Google Shape;215;p44">
            <a:extLst>
              <a:ext uri="{FF2B5EF4-FFF2-40B4-BE49-F238E27FC236}">
                <a16:creationId xmlns:a16="http://schemas.microsoft.com/office/drawing/2014/main" id="{1CB70752-2D76-1F7E-BB52-FABFA0D4A2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4932102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200000"/>
              </a:lnSpc>
            </a:pPr>
            <a:r>
              <a:rPr lang="hu-HU" dirty="0"/>
              <a:t>Merev 30 perces blokkok helyett 10 perces lépésközök</a:t>
            </a:r>
          </a:p>
          <a:p>
            <a:pPr marL="285750" indent="-285750">
              <a:lnSpc>
                <a:spcPct val="200000"/>
              </a:lnSpc>
            </a:pPr>
            <a:r>
              <a:rPr lang="hu-HU" dirty="0"/>
              <a:t>Szoftveres ütközésvizsgálat (</a:t>
            </a:r>
            <a:r>
              <a:rPr lang="hu-HU" dirty="0" err="1"/>
              <a:t>Collision</a:t>
            </a:r>
            <a:r>
              <a:rPr lang="hu-HU" dirty="0"/>
              <a:t> </a:t>
            </a:r>
            <a:r>
              <a:rPr lang="hu-HU" dirty="0" err="1"/>
              <a:t>Detection</a:t>
            </a:r>
            <a:r>
              <a:rPr lang="hu-HU" dirty="0"/>
              <a:t>)</a:t>
            </a:r>
          </a:p>
          <a:p>
            <a:pPr marL="285750" indent="-285750">
              <a:lnSpc>
                <a:spcPct val="200000"/>
              </a:lnSpc>
            </a:pPr>
            <a:r>
              <a:rPr lang="hu-HU" dirty="0"/>
              <a:t>Köztes, rövidebb időablakok felismerése automatikus figyelmeztetéssel</a:t>
            </a:r>
            <a:endParaRPr dirty="0"/>
          </a:p>
        </p:txBody>
      </p:sp>
      <p:cxnSp>
        <p:nvCxnSpPr>
          <p:cNvPr id="216" name="Google Shape;216;p44">
            <a:extLst>
              <a:ext uri="{FF2B5EF4-FFF2-40B4-BE49-F238E27FC236}">
                <a16:creationId xmlns:a16="http://schemas.microsoft.com/office/drawing/2014/main" id="{A8160F6A-4DB9-EDA3-DD0A-EBFD81078FE6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55B7176-FA5E-0F13-8B64-820553D1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968" y="-33138"/>
            <a:ext cx="3145032" cy="52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632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47C11A46-EB91-7F1B-D7F4-7838C5722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>
            <a:extLst>
              <a:ext uri="{FF2B5EF4-FFF2-40B4-BE49-F238E27FC236}">
                <a16:creationId xmlns:a16="http://schemas.microsoft.com/office/drawing/2014/main" id="{B415BA4F-3E2B-B678-B678-D0FF4FC455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992" y="119624"/>
            <a:ext cx="4993574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</a:rPr>
              <a:t>Smart Check-in (Az </a:t>
            </a:r>
            <a:r>
              <a:rPr lang="en-US" dirty="0" err="1">
                <a:solidFill>
                  <a:schemeClr val="accent1"/>
                </a:solidFill>
              </a:rPr>
              <a:t>okos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bejelentkezés</a:t>
            </a:r>
            <a:r>
              <a:rPr lang="en-US" dirty="0">
                <a:solidFill>
                  <a:schemeClr val="accent1"/>
                </a:solidFill>
              </a:rPr>
              <a:t>)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15" name="Google Shape;215;p44">
            <a:extLst>
              <a:ext uri="{FF2B5EF4-FFF2-40B4-BE49-F238E27FC236}">
                <a16:creationId xmlns:a16="http://schemas.microsoft.com/office/drawing/2014/main" id="{8A3CCB51-BB36-D243-6744-FF7DFC1BE6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3991" y="952344"/>
            <a:ext cx="7175259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200000"/>
              </a:lnSpc>
              <a:buFont typeface="Symbol" panose="05050102010706020507" pitchFamily="18" charset="2"/>
              <a:buChar char=""/>
            </a:pPr>
            <a:r>
              <a:rPr lang="hu-HU" dirty="0"/>
              <a:t>Cél: A beteg fizikai jelenlétének bizonyítása GPS manipuláció nélkül</a:t>
            </a:r>
          </a:p>
        </p:txBody>
      </p:sp>
      <p:cxnSp>
        <p:nvCxnSpPr>
          <p:cNvPr id="216" name="Google Shape;216;p44">
            <a:extLst>
              <a:ext uri="{FF2B5EF4-FFF2-40B4-BE49-F238E27FC236}">
                <a16:creationId xmlns:a16="http://schemas.microsoft.com/office/drawing/2014/main" id="{4B5A96E3-6A80-8B3E-56F1-2539830C6C31}"/>
              </a:ext>
            </a:extLst>
          </p:cNvPr>
          <p:cNvCxnSpPr/>
          <p:nvPr/>
        </p:nvCxnSpPr>
        <p:spPr>
          <a:xfrm>
            <a:off x="211692" y="88621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B5F8DCE-9B8B-CC10-FAB0-946162E57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92" y="1610833"/>
            <a:ext cx="6797822" cy="32539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B53CB5-B549-4BBC-C4C9-5A652F47A445}"/>
              </a:ext>
            </a:extLst>
          </p:cNvPr>
          <p:cNvSpPr txBox="1"/>
          <p:nvPr/>
        </p:nvSpPr>
        <p:spPr>
          <a:xfrm>
            <a:off x="5985087" y="3478329"/>
            <a:ext cx="3115340" cy="1600438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marL="0" marR="0" indent="0" algn="l" rtl="0">
              <a:buNone/>
            </a:pPr>
            <a:r>
              <a:rPr lang="hu-HU" sz="1400" b="0" i="0" dirty="0">
                <a:solidFill>
                  <a:srgbClr val="FFFFFF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1. lépés: </a:t>
            </a:r>
            <a:r>
              <a:rPr lang="hu-HU" sz="1400" b="0" i="0" dirty="0" err="1">
                <a:solidFill>
                  <a:srgbClr val="FFFFFF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Wi</a:t>
            </a:r>
            <a:r>
              <a:rPr lang="hu-HU" sz="1400" b="0" i="0" dirty="0">
                <a:solidFill>
                  <a:srgbClr val="FFFFFF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-Fi SSID validáció (</a:t>
            </a:r>
            <a:r>
              <a:rPr lang="hu-HU" sz="1400" b="0" i="0" dirty="0" err="1">
                <a:solidFill>
                  <a:srgbClr val="FFFFFF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AndroidWifi</a:t>
            </a:r>
            <a:r>
              <a:rPr lang="hu-HU" sz="1400" b="0" i="0" dirty="0">
                <a:solidFill>
                  <a:srgbClr val="FFFFFF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)</a:t>
            </a:r>
            <a:endParaRPr lang="hu-HU" dirty="0">
              <a:effectLst/>
            </a:endParaRPr>
          </a:p>
          <a:p>
            <a:pPr marL="0" marR="0" indent="0" algn="l" rtl="0">
              <a:buNone/>
            </a:pPr>
            <a:r>
              <a:rPr lang="hu-HU" sz="1400" b="0" i="0" dirty="0">
                <a:solidFill>
                  <a:srgbClr val="FFFFFF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2. lépés: Időablak ellenőrzése (±5 perces toleranciasáv)</a:t>
            </a:r>
            <a:endParaRPr lang="hu-HU" dirty="0">
              <a:effectLst/>
            </a:endParaRPr>
          </a:p>
          <a:p>
            <a:pPr>
              <a:buNone/>
            </a:pPr>
            <a:r>
              <a:rPr lang="hu-HU" sz="1400" b="0" i="0" dirty="0">
                <a:solidFill>
                  <a:srgbClr val="FFFFFF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3. lépés: Biztonságos státuszfrissítés a </a:t>
            </a:r>
            <a:r>
              <a:rPr lang="hu-HU" sz="1400" b="0" i="0" dirty="0" err="1">
                <a:solidFill>
                  <a:srgbClr val="FFFFFF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Firebase</a:t>
            </a:r>
            <a:r>
              <a:rPr lang="hu-HU" sz="1400" b="0" i="0" dirty="0">
                <a:solidFill>
                  <a:srgbClr val="FFFFFF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 </a:t>
            </a:r>
            <a:r>
              <a:rPr lang="hu-HU" sz="1400" b="0" i="0" dirty="0" err="1">
                <a:solidFill>
                  <a:srgbClr val="FFFFFF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Admin</a:t>
            </a:r>
            <a:r>
              <a:rPr lang="hu-HU" sz="1400" b="0" i="0" dirty="0">
                <a:solidFill>
                  <a:srgbClr val="FFFFFF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 SDK-</a:t>
            </a:r>
            <a:r>
              <a:rPr lang="hu-HU" sz="1400" b="0" i="0" dirty="0" err="1">
                <a:solidFill>
                  <a:srgbClr val="FFFFFF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val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893588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8EC64701-4DCA-C1DF-0DEB-249AADA78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7C8A9D66-5C0D-1CF6-B1DA-C90299BA2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144" y="-44605"/>
            <a:ext cx="3164857" cy="5232152"/>
          </a:xfrm>
          <a:prstGeom prst="rect">
            <a:avLst/>
          </a:prstGeom>
        </p:spPr>
      </p:pic>
      <p:sp>
        <p:nvSpPr>
          <p:cNvPr id="24" name="Google Shape;215;p44">
            <a:extLst>
              <a:ext uri="{FF2B5EF4-FFF2-40B4-BE49-F238E27FC236}">
                <a16:creationId xmlns:a16="http://schemas.microsoft.com/office/drawing/2014/main" id="{F3810C22-66F3-FE61-104B-E693F6BA6CBE}"/>
              </a:ext>
            </a:extLst>
          </p:cNvPr>
          <p:cNvSpPr txBox="1">
            <a:spLocks/>
          </p:cNvSpPr>
          <p:nvPr/>
        </p:nvSpPr>
        <p:spPr>
          <a:xfrm>
            <a:off x="591394" y="1688175"/>
            <a:ext cx="5039679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200000"/>
              </a:lnSpc>
            </a:pPr>
            <a:r>
              <a:rPr lang="en-US" sz="1600" dirty="0">
                <a:solidFill>
                  <a:schemeClr val="tx2"/>
                </a:solidFill>
                <a:latin typeface="Montserrat Medium" panose="00000600000000000000" pitchFamily="2" charset="0"/>
              </a:rPr>
              <a:t>Az </a:t>
            </a:r>
            <a:r>
              <a:rPr lang="en-US" sz="1600" dirty="0" err="1">
                <a:solidFill>
                  <a:schemeClr val="tx2"/>
                </a:solidFill>
                <a:latin typeface="Montserrat Medium" panose="00000600000000000000" pitchFamily="2" charset="0"/>
              </a:rPr>
              <a:t>okos</a:t>
            </a:r>
            <a:r>
              <a:rPr lang="en-US" sz="1600" dirty="0">
                <a:solidFill>
                  <a:schemeClr val="tx2"/>
                </a:solidFill>
                <a:latin typeface="Montserrat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Montserrat Medium" panose="00000600000000000000" pitchFamily="2" charset="0"/>
              </a:rPr>
              <a:t>bejelentkez</a:t>
            </a:r>
            <a:r>
              <a:rPr lang="hu-HU" sz="1600" dirty="0">
                <a:solidFill>
                  <a:schemeClr val="tx2"/>
                </a:solidFill>
                <a:latin typeface="Montserrat Medium" panose="00000600000000000000" pitchFamily="2" charset="0"/>
              </a:rPr>
              <a:t>és a kliensoldali </a:t>
            </a:r>
            <a:r>
              <a:rPr lang="hu-HU" sz="1600" dirty="0" err="1">
                <a:solidFill>
                  <a:schemeClr val="tx2"/>
                </a:solidFill>
                <a:latin typeface="Montserrat Medium" panose="00000600000000000000" pitchFamily="2" charset="0"/>
              </a:rPr>
              <a:t>Flutter</a:t>
            </a:r>
            <a:r>
              <a:rPr lang="hu-HU" sz="1600" dirty="0">
                <a:solidFill>
                  <a:schemeClr val="tx2"/>
                </a:solidFill>
                <a:latin typeface="Montserrat Medium" panose="00000600000000000000" pitchFamily="2" charset="0"/>
              </a:rPr>
              <a:t> alkalmazásban.</a:t>
            </a:r>
          </a:p>
        </p:txBody>
      </p:sp>
    </p:spTree>
    <p:extLst>
      <p:ext uri="{BB962C8B-B14F-4D97-AF65-F5344CB8AC3E}">
        <p14:creationId xmlns:p14="http://schemas.microsoft.com/office/powerpoint/2010/main" val="1879604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07D7D614-50B2-B485-33FA-1EE6B66F1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>
            <a:extLst>
              <a:ext uri="{FF2B5EF4-FFF2-40B4-BE49-F238E27FC236}">
                <a16:creationId xmlns:a16="http://schemas.microsoft.com/office/drawing/2014/main" id="{4B5ED43E-F3F5-3774-98FC-1F304783F7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993574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>
                <a:solidFill>
                  <a:schemeClr val="accent1"/>
                </a:solidFill>
              </a:rPr>
              <a:t>Valós idejű orvosi műszerfal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15" name="Google Shape;215;p44">
            <a:extLst>
              <a:ext uri="{FF2B5EF4-FFF2-40B4-BE49-F238E27FC236}">
                <a16:creationId xmlns:a16="http://schemas.microsoft.com/office/drawing/2014/main" id="{4AB3DFF7-078B-EBAB-F93E-9C4A421CF4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4932102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200000"/>
              </a:lnSpc>
            </a:pPr>
            <a:r>
              <a:rPr lang="hu-HU" dirty="0"/>
              <a:t>Automatikus frissülés </a:t>
            </a:r>
            <a:r>
              <a:rPr lang="hu-HU" dirty="0" err="1"/>
              <a:t>oldalújratöltés</a:t>
            </a:r>
            <a:r>
              <a:rPr lang="hu-HU" dirty="0"/>
              <a:t> nélkül (</a:t>
            </a:r>
            <a:r>
              <a:rPr lang="hu-HU" dirty="0" err="1"/>
              <a:t>StreamBuilder</a:t>
            </a:r>
            <a:r>
              <a:rPr lang="hu-HU" dirty="0"/>
              <a:t>)</a:t>
            </a:r>
          </a:p>
          <a:p>
            <a:pPr marL="285750" indent="-285750">
              <a:lnSpc>
                <a:spcPct val="200000"/>
              </a:lnSpc>
            </a:pPr>
            <a:r>
              <a:rPr lang="hu-HU" dirty="0"/>
              <a:t>Azonnali zöld vizuális jelzés a beteg megérkezésekor</a:t>
            </a:r>
          </a:p>
          <a:p>
            <a:pPr marL="285750" indent="-285750">
              <a:lnSpc>
                <a:spcPct val="200000"/>
              </a:lnSpc>
            </a:pPr>
            <a:r>
              <a:rPr lang="hu-HU" dirty="0" err="1"/>
              <a:t>Egykattintásos</a:t>
            </a:r>
            <a:r>
              <a:rPr lang="hu-HU" dirty="0"/>
              <a:t> kórlap-generálás és archiválás.</a:t>
            </a:r>
            <a:endParaRPr dirty="0"/>
          </a:p>
        </p:txBody>
      </p:sp>
      <p:cxnSp>
        <p:nvCxnSpPr>
          <p:cNvPr id="216" name="Google Shape;216;p44">
            <a:extLst>
              <a:ext uri="{FF2B5EF4-FFF2-40B4-BE49-F238E27FC236}">
                <a16:creationId xmlns:a16="http://schemas.microsoft.com/office/drawing/2014/main" id="{E5E8474D-8A28-A238-A55B-118079F8D00F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9F7D9B7-8E3E-00D4-D1AA-74FD6F6ED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131" y="-42336"/>
            <a:ext cx="3157869" cy="522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993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7944260A-65D6-90ED-804B-A5F6CBADE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>
            <a:extLst>
              <a:ext uri="{FF2B5EF4-FFF2-40B4-BE49-F238E27FC236}">
                <a16:creationId xmlns:a16="http://schemas.microsoft.com/office/drawing/2014/main" id="{D5137124-9E97-9C9B-6D89-4EF96B45C7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993574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>
                <a:solidFill>
                  <a:schemeClr val="accent1"/>
                </a:solidFill>
              </a:rPr>
              <a:t>Tesztelés és eredmények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15" name="Google Shape;215;p44">
            <a:extLst>
              <a:ext uri="{FF2B5EF4-FFF2-40B4-BE49-F238E27FC236}">
                <a16:creationId xmlns:a16="http://schemas.microsoft.com/office/drawing/2014/main" id="{619ED0AE-4802-50C6-068A-161D4B7D50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4932102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200000"/>
              </a:lnSpc>
            </a:pPr>
            <a:r>
              <a:rPr lang="hu-HU" dirty="0"/>
              <a:t>Automatizált tesztadat-generálás (</a:t>
            </a:r>
            <a:r>
              <a:rPr lang="hu-HU" dirty="0" err="1"/>
              <a:t>Database</a:t>
            </a:r>
            <a:r>
              <a:rPr lang="hu-HU" dirty="0"/>
              <a:t> </a:t>
            </a:r>
            <a:r>
              <a:rPr lang="hu-HU" dirty="0" err="1"/>
              <a:t>Seeding</a:t>
            </a:r>
            <a:r>
              <a:rPr lang="hu-HU" dirty="0"/>
              <a:t> Node.js-ben)</a:t>
            </a:r>
          </a:p>
          <a:p>
            <a:pPr marL="285750" indent="-285750">
              <a:lnSpc>
                <a:spcPct val="200000"/>
              </a:lnSpc>
            </a:pPr>
            <a:r>
              <a:rPr lang="hu-HU" dirty="0"/>
              <a:t>Edge </a:t>
            </a:r>
            <a:r>
              <a:rPr lang="hu-HU" dirty="0" err="1"/>
              <a:t>case</a:t>
            </a:r>
            <a:r>
              <a:rPr lang="hu-HU" dirty="0"/>
              <a:t>-ek sikeres kezelése (pl. mobilnetes próbálkozás kizárása)</a:t>
            </a:r>
          </a:p>
          <a:p>
            <a:pPr marL="285750" indent="-285750">
              <a:lnSpc>
                <a:spcPct val="200000"/>
              </a:lnSpc>
            </a:pPr>
            <a:r>
              <a:rPr lang="hu-HU" dirty="0"/>
              <a:t>Hibátlan aszinkron adatfolyam a rétegek között</a:t>
            </a:r>
            <a:endParaRPr dirty="0"/>
          </a:p>
        </p:txBody>
      </p:sp>
      <p:cxnSp>
        <p:nvCxnSpPr>
          <p:cNvPr id="216" name="Google Shape;216;p44">
            <a:extLst>
              <a:ext uri="{FF2B5EF4-FFF2-40B4-BE49-F238E27FC236}">
                <a16:creationId xmlns:a16="http://schemas.microsoft.com/office/drawing/2014/main" id="{3C4161BC-F0B1-9CD5-F32D-6E84CAF599F5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001980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FEDFD68A-5297-1870-D563-DDB4E7D5B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>
            <a:extLst>
              <a:ext uri="{FF2B5EF4-FFF2-40B4-BE49-F238E27FC236}">
                <a16:creationId xmlns:a16="http://schemas.microsoft.com/office/drawing/2014/main" id="{6732A5B5-3F73-19CA-D860-B7DDE1F510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993574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Jövőbeli tervek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15" name="Google Shape;215;p44">
            <a:extLst>
              <a:ext uri="{FF2B5EF4-FFF2-40B4-BE49-F238E27FC236}">
                <a16:creationId xmlns:a16="http://schemas.microsoft.com/office/drawing/2014/main" id="{60B64B17-B4F6-0E0F-60A1-5320012413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4932102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200000"/>
              </a:lnSpc>
            </a:pPr>
            <a:r>
              <a:rPr lang="hu-HU" dirty="0" err="1"/>
              <a:t>Push</a:t>
            </a:r>
            <a:r>
              <a:rPr lang="hu-HU" dirty="0"/>
              <a:t> értesítések integrálása (</a:t>
            </a:r>
            <a:r>
              <a:rPr lang="hu-HU" dirty="0" err="1"/>
              <a:t>Firebase</a:t>
            </a:r>
            <a:r>
              <a:rPr lang="hu-HU" dirty="0"/>
              <a:t> </a:t>
            </a:r>
            <a:r>
              <a:rPr lang="hu-HU" dirty="0" err="1"/>
              <a:t>Cloud</a:t>
            </a:r>
            <a:r>
              <a:rPr lang="hu-HU" dirty="0"/>
              <a:t> </a:t>
            </a:r>
            <a:r>
              <a:rPr lang="hu-HU" dirty="0" err="1"/>
              <a:t>Messaging</a:t>
            </a:r>
            <a:r>
              <a:rPr lang="hu-HU" dirty="0"/>
              <a:t>)</a:t>
            </a:r>
          </a:p>
          <a:p>
            <a:pPr marL="285750" indent="-285750">
              <a:lnSpc>
                <a:spcPct val="200000"/>
              </a:lnSpc>
            </a:pPr>
            <a:r>
              <a:rPr lang="hu-HU" dirty="0"/>
              <a:t>E-Recept és állami egészségügyi rendszerek bekötése</a:t>
            </a:r>
          </a:p>
          <a:p>
            <a:pPr marL="285750" indent="-285750">
              <a:lnSpc>
                <a:spcPct val="200000"/>
              </a:lnSpc>
            </a:pPr>
            <a:r>
              <a:rPr lang="hu-HU" dirty="0"/>
              <a:t>Beltéri navigáció fejlesztése Bluetooth </a:t>
            </a:r>
            <a:r>
              <a:rPr lang="hu-HU" dirty="0" err="1"/>
              <a:t>Beaconökkel</a:t>
            </a:r>
            <a:endParaRPr dirty="0"/>
          </a:p>
        </p:txBody>
      </p:sp>
      <p:cxnSp>
        <p:nvCxnSpPr>
          <p:cNvPr id="216" name="Google Shape;216;p44">
            <a:extLst>
              <a:ext uri="{FF2B5EF4-FFF2-40B4-BE49-F238E27FC236}">
                <a16:creationId xmlns:a16="http://schemas.microsoft.com/office/drawing/2014/main" id="{9CBA84C9-8105-7C5F-F51A-3FC453F329C7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28194882"/>
      </p:ext>
    </p:extLst>
  </p:cSld>
  <p:clrMapOvr>
    <a:masterClrMapping/>
  </p:clrMapOvr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296</Words>
  <Application>Microsoft Office PowerPoint</Application>
  <PresentationFormat>On-screen Show (16:9)</PresentationFormat>
  <Paragraphs>48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Montserrat</vt:lpstr>
      <vt:lpstr>Symbol</vt:lpstr>
      <vt:lpstr>Arial</vt:lpstr>
      <vt:lpstr>Montserrat Medium</vt:lpstr>
      <vt:lpstr>Montserrat ExtraBold</vt:lpstr>
      <vt:lpstr>Futuristic Background by Slidesgo</vt:lpstr>
      <vt:lpstr>KorhazApp – Okos kórházi időpontfoglaló rendszer</vt:lpstr>
      <vt:lpstr>A probléma és a motiváció</vt:lpstr>
      <vt:lpstr>A megoldás: Projekt célkitűzések</vt:lpstr>
      <vt:lpstr>01</vt:lpstr>
      <vt:lpstr>PowerPoint Presentation</vt:lpstr>
      <vt:lpstr>Az architektúrák összehangolása</vt:lpstr>
      <vt:lpstr>A dinamikus időpontfoglaló algoritmus</vt:lpstr>
      <vt:lpstr>Smart Check-in (Az okos bejelentkezés)</vt:lpstr>
      <vt:lpstr>PowerPoint Presentation</vt:lpstr>
      <vt:lpstr>Valós idejű orvosi műszerfal</vt:lpstr>
      <vt:lpstr>Tesztelés és eredmények</vt:lpstr>
      <vt:lpstr>Jövőbeli tervek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EDIT BALOG</cp:lastModifiedBy>
  <cp:revision>5</cp:revision>
  <dcterms:modified xsi:type="dcterms:W3CDTF">2026-03-31T07:52:04Z</dcterms:modified>
</cp:coreProperties>
</file>